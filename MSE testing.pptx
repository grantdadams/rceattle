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MSE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Grant Adams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Fitting OMs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(Rceattle)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data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"NorthernRockfish2022"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nrdata &lt;- NorthernRockfish2022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nrdata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fleet_control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proj_F_prop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om &lt;- Rceattle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fit_mod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data_list =</a:t>
            </a:r>
            <a:r>
              <a:rPr>
                <a:solidFill>
                  <a:srgbClr val="003B4F"/>
                </a:solidFill>
                <a:latin typeface="Courier"/>
              </a:rPr>
              <a:t> nrdata,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estimateMode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 </a:t>
            </a:r>
            <a:r>
              <a:rPr>
                <a:solidFill>
                  <a:srgbClr val="5E5E5E"/>
                </a:solidFill>
                <a:latin typeface="Courier"/>
              </a:rPr>
              <a:t># Estimate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initMode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     </a:t>
            </a:r>
            <a:r>
              <a:rPr>
                <a:solidFill>
                  <a:srgbClr val="5E5E5E"/>
                </a:solidFill>
                <a:latin typeface="Courier"/>
              </a:rPr>
              <a:t># Assume unfished equilibrium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phase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M1Fun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build_M1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updateM1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M1_model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M1_use_prior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M_prior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M_prior_sd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"'Age_max_selected_upper' not specified in 'fleet_control', assuming 'NA'"
[1] "'Sel_curve_pen1' not specified in 'fleet_control', assuming '0'"
[1] "'Sel_curve_pen2' not specified in 'fleet_control', assuming '0'"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Fitting EMs (Tier 3 HCR)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em &lt;- Rceattle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fit_mod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data_list =</a:t>
            </a:r>
            <a:r>
              <a:rPr>
                <a:solidFill>
                  <a:srgbClr val="003B4F"/>
                </a:solidFill>
                <a:latin typeface="Courier"/>
              </a:rPr>
              <a:t> nrdata,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estimateMode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# Estimate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verbose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phase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initMode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     </a:t>
            </a:r>
            <a:r>
              <a:rPr>
                <a:solidFill>
                  <a:srgbClr val="5E5E5E"/>
                </a:solidFill>
                <a:latin typeface="Courier"/>
              </a:rPr>
              <a:t># Assume unfished equilibrium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M1Fun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build_M1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updateM1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M1_model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M1_use_prior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M_prior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M_prior_sd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HCR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build_hcr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HCR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      </a:t>
            </a:r>
            <a:r>
              <a:rPr>
                <a:solidFill>
                  <a:srgbClr val="5E5E5E"/>
                </a:solidFill>
                <a:latin typeface="Courier"/>
              </a:rPr>
              <a:t># Tier3 HCR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657422"/>
                </a:solidFill>
                <a:latin typeface="Courier"/>
              </a:rPr>
              <a:t>Ftarget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# F40%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657422"/>
                </a:solidFill>
                <a:latin typeface="Courier"/>
              </a:rPr>
              <a:t>Flimit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# F35%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657422"/>
                </a:solidFill>
                <a:latin typeface="Courier"/>
              </a:rPr>
              <a:t>Plimit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  </a:t>
            </a:r>
            <a:r>
              <a:rPr>
                <a:solidFill>
                  <a:srgbClr val="5E5E5E"/>
                </a:solidFill>
                <a:latin typeface="Courier"/>
              </a:rPr>
              <a:t># No fishing when SB&lt;SB20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"'Age_max_selected_upper' not specified in 'fleet_control', assuming 'NA'"
[1] "'Sel_curve_pen1' not specified in 'fleet_control', assuming '0'"
[1] "'Sel_curve_pen2' not specified in 'fleet_control', assuming '0'"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Running MSEs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mse1 &lt;- </a:t>
            </a:r>
            <a:r>
              <a:rPr>
                <a:solidFill>
                  <a:srgbClr val="4758AB"/>
                </a:solidFill>
                <a:latin typeface="Courier"/>
              </a:rPr>
              <a:t>run_mse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om =</a:t>
            </a:r>
            <a:r>
              <a:rPr>
                <a:solidFill>
                  <a:srgbClr val="003B4F"/>
                </a:solidFill>
                <a:latin typeface="Courier"/>
              </a:rPr>
              <a:t> om, </a:t>
            </a:r>
            <a:r>
              <a:rPr>
                <a:solidFill>
                  <a:srgbClr val="657422"/>
                </a:solidFill>
                <a:latin typeface="Courier"/>
              </a:rPr>
              <a:t>em =</a:t>
            </a:r>
            <a:r>
              <a:rPr>
                <a:solidFill>
                  <a:srgbClr val="003B4F"/>
                </a:solidFill>
                <a:latin typeface="Courier"/>
              </a:rPr>
              <a:t> em,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nsim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assessment_period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sampling_period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# Fishery = fleet 1, BTS = fleet 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Evaluating MSEs via plots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plot_depletionSSB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lapply</a:t>
            </a:r>
            <a:r>
              <a:rPr>
                <a:solidFill>
                  <a:srgbClr val="003B4F"/>
                </a:solidFill>
                <a:latin typeface="Courier"/>
              </a:rPr>
              <a:t>(mse1,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(x) x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OM))</a:t>
            </a:r>
          </a:p>
        </p:txBody>
      </p:sp>
      <p:pic>
        <p:nvPicPr>
          <p:cNvPr descr="MSE-testing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plot_depletionSSB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(mse1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Sim_1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EM,           </a:t>
            </a:r>
            <a:r>
              <a:rPr>
                <a:solidFill>
                  <a:srgbClr val="5E5E5E"/>
                </a:solidFill>
                <a:latin typeface="Courier"/>
              </a:rPr>
              <a:t># EMs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(mse1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Sim_1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OM,      </a:t>
            </a:r>
            <a:r>
              <a:rPr>
                <a:solidFill>
                  <a:srgbClr val="5E5E5E"/>
                </a:solidFill>
                <a:latin typeface="Courier"/>
              </a:rPr>
              <a:t># OM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mse1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Sim_1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OM_no_F  </a:t>
            </a:r>
            <a:r>
              <a:rPr>
                <a:solidFill>
                  <a:srgbClr val="5E5E5E"/>
                </a:solidFill>
                <a:latin typeface="Courier"/>
              </a:rPr>
              <a:t># OM w/ no fishing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)),   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line_col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paste0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"grey"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seq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80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length.out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15</a:t>
            </a:r>
            <a:r>
              <a:rPr>
                <a:solidFill>
                  <a:srgbClr val="003B4F"/>
                </a:solidFill>
                <a:latin typeface="Courier"/>
              </a:rPr>
              <a:t>))),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MSE-testing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Summary statistics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(kableExtra)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mse_summ &lt;- </a:t>
            </a:r>
            <a:r>
              <a:rPr>
                <a:solidFill>
                  <a:srgbClr val="4758AB"/>
                </a:solidFill>
                <a:latin typeface="Courier"/>
              </a:rPr>
              <a:t>mse_summary</a:t>
            </a:r>
            <a:r>
              <a:rPr>
                <a:solidFill>
                  <a:srgbClr val="003B4F"/>
                </a:solidFill>
                <a:latin typeface="Courier"/>
              </a:rPr>
              <a:t>(mse1)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kable</a:t>
            </a:r>
            <a:r>
              <a:rPr>
                <a:solidFill>
                  <a:srgbClr val="003B4F"/>
                </a:solidFill>
                <a:latin typeface="Courier"/>
              </a:rPr>
              <a:t>(mse_summ, </a:t>
            </a:r>
            <a:r>
              <a:rPr>
                <a:solidFill>
                  <a:srgbClr val="657422"/>
                </a:solidFill>
                <a:latin typeface="Courier"/>
              </a:rPr>
              <a:t>digits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/>
                <a:gridCol w="88900"/>
                <a:gridCol w="88900"/>
                <a:gridCol w="114300"/>
                <a:gridCol w="88900"/>
                <a:gridCol w="88900"/>
                <a:gridCol w="177800"/>
                <a:gridCol w="254000"/>
                <a:gridCol w="165100"/>
                <a:gridCol w="190500"/>
                <a:gridCol w="165100"/>
                <a:gridCol w="190500"/>
                <a:gridCol w="355600"/>
                <a:gridCol w="355600"/>
                <a:gridCol w="406400"/>
                <a:gridCol w="406400"/>
                <a:gridCol w="127000"/>
                <a:gridCol w="139700"/>
                <a:gridCol w="215900"/>
                <a:gridCol w="228600"/>
                <a:gridCol w="317500"/>
                <a:gridCol w="215900"/>
                <a:gridCol w="190500"/>
                <a:gridCol w="139700"/>
                <a:gridCol w="203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Fleet_name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Fleet_code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Average Catch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Catch IAV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P(Closed)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Avg SSB Relative 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Avg terminal SSB Relative 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EM: P(Fy &gt; Flimit)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EM: P(SSB &lt; SSBlimit)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P(Fy &gt; Flimit)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P(SSB &lt; SSBlimit)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EM: P(Fy &gt; Flimit) but OM: P(Fy &lt; Flimit)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EM: P(Fy &lt; Flimit) but OM: P(Fy &gt; Flimit)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EM: P(SSB &lt; SSBlimit) but OM: P(SSB &gt; SSBlimit)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EM: P(SSB &gt; SSBlimit) but OM: P(SSB &lt; SSBlimit)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Terminal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Terminal SSB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Terminal Dynamic SB0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Terminal SSB Depletion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Terminal SSB Depletion (Dynamic)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Average SSB Depletion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 no F: SSB Collapse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SSB Collapse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SSB Collapse from F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GOA Northern rockfish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4546.83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110019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35363.29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78239.95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Fishery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4546.83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4546.83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Alternative scenarios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Different BRPs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em2 &lt;- Rceattle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fit_mod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data_list =</a:t>
            </a:r>
            <a:r>
              <a:rPr>
                <a:solidFill>
                  <a:srgbClr val="003B4F"/>
                </a:solidFill>
                <a:latin typeface="Courier"/>
              </a:rPr>
              <a:t> nrdata,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estimateMode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# Estimate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verbose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phase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initMode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     </a:t>
            </a:r>
            <a:r>
              <a:rPr>
                <a:solidFill>
                  <a:srgbClr val="5E5E5E"/>
                </a:solidFill>
                <a:latin typeface="Courier"/>
              </a:rPr>
              <a:t># Assume unfished equilibrium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M1Fun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build_M1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updateM1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M1_model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M1_use_prior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M_prior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M_prior_sd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HCR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build_hcr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HCR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      </a:t>
            </a:r>
            <a:r>
              <a:rPr>
                <a:solidFill>
                  <a:srgbClr val="5E5E5E"/>
                </a:solidFill>
                <a:latin typeface="Courier"/>
              </a:rPr>
              <a:t># Tier3 HCR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657422"/>
                </a:solidFill>
                <a:latin typeface="Courier"/>
              </a:rPr>
              <a:t>Ftarget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5E5E5E"/>
                </a:solidFill>
                <a:latin typeface="Courier"/>
              </a:rPr>
              <a:t># F40%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657422"/>
                </a:solidFill>
                <a:latin typeface="Courier"/>
              </a:rPr>
              <a:t>Flimit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# F35%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657422"/>
                </a:solidFill>
                <a:latin typeface="Courier"/>
              </a:rPr>
              <a:t>Plimit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   </a:t>
            </a:r>
            <a:r>
              <a:rPr>
                <a:solidFill>
                  <a:srgbClr val="5E5E5E"/>
                </a:solidFill>
                <a:latin typeface="Courier"/>
              </a:rPr>
              <a:t># No limit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"'Age_max_selected_upper' not specified in 'fleet_control', assuming 'NA'"
[1] "'Sel_curve_pen1' not specified in 'fleet_control', assuming '0'"
[1] "'Sel_curve_pen2' not specified in 'fleet_control', assuming '0'"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MSE 2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mse2 &lt;- </a:t>
            </a:r>
            <a:r>
              <a:rPr>
                <a:solidFill>
                  <a:srgbClr val="4758AB"/>
                </a:solidFill>
                <a:latin typeface="Courier"/>
              </a:rPr>
              <a:t>run_mse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om =</a:t>
            </a:r>
            <a:r>
              <a:rPr>
                <a:solidFill>
                  <a:srgbClr val="003B4F"/>
                </a:solidFill>
                <a:latin typeface="Courier"/>
              </a:rPr>
              <a:t> om, </a:t>
            </a:r>
            <a:r>
              <a:rPr>
                <a:solidFill>
                  <a:srgbClr val="657422"/>
                </a:solidFill>
                <a:latin typeface="Courier"/>
              </a:rPr>
              <a:t>em =</a:t>
            </a:r>
            <a:r>
              <a:rPr>
                <a:solidFill>
                  <a:srgbClr val="003B4F"/>
                </a:solidFill>
                <a:latin typeface="Courier"/>
              </a:rPr>
              <a:t> em2,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nsim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assessment_period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sampling_period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# Fishery = fleet 1, BTS = fleet 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Triannual BTS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mse3 &lt;- </a:t>
            </a:r>
            <a:r>
              <a:rPr>
                <a:solidFill>
                  <a:srgbClr val="4758AB"/>
                </a:solidFill>
                <a:latin typeface="Courier"/>
              </a:rPr>
              <a:t>run_mse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om =</a:t>
            </a:r>
            <a:r>
              <a:rPr>
                <a:solidFill>
                  <a:srgbClr val="003B4F"/>
                </a:solidFill>
                <a:latin typeface="Courier"/>
              </a:rPr>
              <a:t> om, </a:t>
            </a:r>
            <a:r>
              <a:rPr>
                <a:solidFill>
                  <a:srgbClr val="657422"/>
                </a:solidFill>
                <a:latin typeface="Courier"/>
              </a:rPr>
              <a:t>em =</a:t>
            </a:r>
            <a:r>
              <a:rPr>
                <a:solidFill>
                  <a:srgbClr val="003B4F"/>
                </a:solidFill>
                <a:latin typeface="Courier"/>
              </a:rPr>
              <a:t> em,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nsim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assessment_period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sampling_period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# Fishery = fleet 1, BTS = fleet 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4-year cycle and 50% sampling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mse4 &lt;- </a:t>
            </a:r>
            <a:r>
              <a:rPr>
                <a:solidFill>
                  <a:srgbClr val="4758AB"/>
                </a:solidFill>
                <a:latin typeface="Courier"/>
              </a:rPr>
              <a:t>run_mse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om =</a:t>
            </a:r>
            <a:r>
              <a:rPr>
                <a:solidFill>
                  <a:srgbClr val="003B4F"/>
                </a:solidFill>
                <a:latin typeface="Courier"/>
              </a:rPr>
              <a:t> om, </a:t>
            </a:r>
            <a:r>
              <a:rPr>
                <a:solidFill>
                  <a:srgbClr val="657422"/>
                </a:solidFill>
                <a:latin typeface="Courier"/>
              </a:rPr>
              <a:t>em =</a:t>
            </a:r>
            <a:r>
              <a:rPr>
                <a:solidFill>
                  <a:srgbClr val="003B4F"/>
                </a:solidFill>
                <a:latin typeface="Courier"/>
              </a:rPr>
              <a:t> em,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nsim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fut_sample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assessment_period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sampling_period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# Fishery = fleet 1, BTS = fleet 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Climate resilience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nrdata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env_data &lt;- </a:t>
            </a:r>
            <a:r>
              <a:rPr>
                <a:solidFill>
                  <a:srgbClr val="4758AB"/>
                </a:solidFill>
                <a:latin typeface="Courier"/>
              </a:rPr>
              <a:t>data.frame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nrdata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styr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nrdata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projyr,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Index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90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90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om2 &lt;- Rceattle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fit_mod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data_list =</a:t>
            </a:r>
            <a:r>
              <a:rPr>
                <a:solidFill>
                  <a:srgbClr val="003B4F"/>
                </a:solidFill>
                <a:latin typeface="Courier"/>
              </a:rPr>
              <a:t> nrdata,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estimateMode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 </a:t>
            </a:r>
            <a:r>
              <a:rPr>
                <a:solidFill>
                  <a:srgbClr val="5E5E5E"/>
                </a:solidFill>
                <a:latin typeface="Courier"/>
              </a:rPr>
              <a:t># Estimate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initMode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     </a:t>
            </a:r>
            <a:r>
              <a:rPr>
                <a:solidFill>
                  <a:srgbClr val="5E5E5E"/>
                </a:solidFill>
                <a:latin typeface="Courier"/>
              </a:rPr>
              <a:t># Assume unfished equilibrium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phase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M1Fun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build_M1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updateM1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M1_model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M1_use_prior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M_prior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M_prior_sd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recFun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build_srr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srr_fun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   </a:t>
            </a:r>
            <a:r>
              <a:rPr>
                <a:solidFill>
                  <a:srgbClr val="5E5E5E"/>
                </a:solidFill>
                <a:latin typeface="Courier"/>
              </a:rPr>
              <a:t># Mean R with covariates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srr_indices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[1] "'Age_max_selected_upper' not specified in 'fleet_control', assuming 'NA'"
[1] "'Sel_curve_pen1' not specified in 'fleet_control', assuming '0'"
[1] "'Sel_curve_pen2' not specified in 'fleet_control', assuming '0'"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plot_biomass</a:t>
            </a:r>
            <a:r>
              <a:rPr>
                <a:solidFill>
                  <a:srgbClr val="003B4F"/>
                </a:solidFill>
                <a:latin typeface="Courier"/>
              </a:rPr>
              <a:t>(om2, </a:t>
            </a:r>
            <a:r>
              <a:rPr>
                <a:solidFill>
                  <a:srgbClr val="657422"/>
                </a:solidFill>
                <a:latin typeface="Courier"/>
              </a:rPr>
              <a:t>incl_proj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MSE-testing_files/figure-pptx/unnamed-chunk-1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mse5 &lt;- </a:t>
            </a:r>
            <a:r>
              <a:rPr>
                <a:solidFill>
                  <a:srgbClr val="4758AB"/>
                </a:solidFill>
                <a:latin typeface="Courier"/>
              </a:rPr>
              <a:t>run_mse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om =</a:t>
            </a:r>
            <a:r>
              <a:rPr>
                <a:solidFill>
                  <a:srgbClr val="003B4F"/>
                </a:solidFill>
                <a:latin typeface="Courier"/>
              </a:rPr>
              <a:t> om2, </a:t>
            </a:r>
            <a:r>
              <a:rPr>
                <a:solidFill>
                  <a:srgbClr val="657422"/>
                </a:solidFill>
                <a:latin typeface="Courier"/>
              </a:rPr>
              <a:t>em =</a:t>
            </a:r>
            <a:r>
              <a:rPr>
                <a:solidFill>
                  <a:srgbClr val="003B4F"/>
                </a:solidFill>
                <a:latin typeface="Courier"/>
              </a:rPr>
              <a:t> em,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nsim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fut_sample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assessment_period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sampling_period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# Fishery = fleet 1, BTS = fleet 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Overall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mse_summ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MSE =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mse_summ2 &lt;- </a:t>
            </a:r>
            <a:r>
              <a:rPr>
                <a:solidFill>
                  <a:srgbClr val="4758AB"/>
                </a:solidFill>
                <a:latin typeface="Courier"/>
              </a:rPr>
              <a:t>mse_summary</a:t>
            </a:r>
            <a:r>
              <a:rPr>
                <a:solidFill>
                  <a:srgbClr val="003B4F"/>
                </a:solidFill>
                <a:latin typeface="Courier"/>
              </a:rPr>
              <a:t>(mse2); mse_summ2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MSE =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mse_summ3 &lt;- </a:t>
            </a:r>
            <a:r>
              <a:rPr>
                <a:solidFill>
                  <a:srgbClr val="4758AB"/>
                </a:solidFill>
                <a:latin typeface="Courier"/>
              </a:rPr>
              <a:t>mse_summary</a:t>
            </a:r>
            <a:r>
              <a:rPr>
                <a:solidFill>
                  <a:srgbClr val="003B4F"/>
                </a:solidFill>
                <a:latin typeface="Courier"/>
              </a:rPr>
              <a:t>(mse3); mse_summ3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MSE =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mse_summ4 &lt;- </a:t>
            </a:r>
            <a:r>
              <a:rPr>
                <a:solidFill>
                  <a:srgbClr val="4758AB"/>
                </a:solidFill>
                <a:latin typeface="Courier"/>
              </a:rPr>
              <a:t>mse_summary</a:t>
            </a:r>
            <a:r>
              <a:rPr>
                <a:solidFill>
                  <a:srgbClr val="003B4F"/>
                </a:solidFill>
                <a:latin typeface="Courier"/>
              </a:rPr>
              <a:t>(mse4); mse_summ4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MSE =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kable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do.call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"rbind"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(mse_summ, mse_summ2, mse_summ3, mse_summ4))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dplyr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relocate</a:t>
            </a:r>
            <a:r>
              <a:rPr>
                <a:solidFill>
                  <a:srgbClr val="003B4F"/>
                </a:solidFill>
                <a:latin typeface="Courier"/>
              </a:rPr>
              <a:t>(MSE), </a:t>
            </a:r>
            <a:r>
              <a:rPr>
                <a:solidFill>
                  <a:srgbClr val="657422"/>
                </a:solidFill>
                <a:latin typeface="Courier"/>
              </a:rPr>
              <a:t>digits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"/>
                <a:gridCol w="190500"/>
                <a:gridCol w="88900"/>
                <a:gridCol w="88900"/>
                <a:gridCol w="114300"/>
                <a:gridCol w="88900"/>
                <a:gridCol w="88900"/>
                <a:gridCol w="177800"/>
                <a:gridCol w="254000"/>
                <a:gridCol w="165100"/>
                <a:gridCol w="190500"/>
                <a:gridCol w="165100"/>
                <a:gridCol w="190500"/>
                <a:gridCol w="355600"/>
                <a:gridCol w="355600"/>
                <a:gridCol w="406400"/>
                <a:gridCol w="406400"/>
                <a:gridCol w="127000"/>
                <a:gridCol w="139700"/>
                <a:gridCol w="215900"/>
                <a:gridCol w="228600"/>
                <a:gridCol w="317500"/>
                <a:gridCol w="215900"/>
                <a:gridCol w="190500"/>
                <a:gridCol w="139700"/>
                <a:gridCol w="2032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Species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Fleet_name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Fleet_code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Average Catch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Catch IAV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P(Closed)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Avg SSB Relative 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Avg terminal SSB Relative 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EM: P(Fy &gt; Flimit)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EM: P(SSB &lt; SSBlimit)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P(Fy &gt; Flimit)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P(SSB &lt; SSBlimit)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EM: P(Fy &gt; Flimit) but OM: P(Fy &lt; Flimit)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EM: P(Fy &lt; Flimit) but OM: P(Fy &gt; Flimit)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EM: P(SSB &lt; SSBlimit) but OM: P(SSB &gt; SSBlimit)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EM: P(SSB &gt; SSBlimit) but OM: P(SSB &lt; SSBlimit)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Terminal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Terminal SSB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Terminal Dynamic SB0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Terminal SSB Depletion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Terminal SSB Depletion (Dynamic)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Average SSB Depletion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 no F: SSB Collapse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SSB Collapse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OM: SSB Collapse from F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GOA Northern rockfish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4546.83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110019.04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35363.29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78239.95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Fishery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4546.83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4546.83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GOA Northern rockfish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5590.88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94149.14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27853.96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78239.95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Fishery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5590.88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5590.88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GOA Northern rockfish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4513.70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110462.63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35591.04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78239.95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Fishery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4513.70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4513.70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GOA Northern rockfish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4364.35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114102.34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37321.95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78239.95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Fishery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4364.35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4364.35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MSE testing</dc:title>
  <dc:creator>Grant Adams</dc:creator>
  <cp:keywords/>
  <dcterms:created xsi:type="dcterms:W3CDTF">2025-08-20T04:23:34Z</dcterms:created>
  <dcterms:modified xsi:type="dcterms:W3CDTF">2025-08-20T04:23:34Z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