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MSE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Grant Adams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 OMs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(Rceattle)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"NorthernRockfish2022"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nrdata &lt;- NorthernRockfish2022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fleet_control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proj_F_prop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om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Fitting EMs (Tier 3 HCR)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em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verbose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build_hcr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      </a:t>
            </a:r>
            <a:r>
              <a:rPr>
                <a:solidFill>
                  <a:srgbClr val="5E5E5E"/>
                </a:solidFill>
                <a:latin typeface="Courier"/>
              </a:rPr>
              <a:t># Tier3 HCR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Ftarget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F40%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F35%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Plimit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No fishing when SB&lt;SB20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Running MSEs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mse1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Evaluating MSEs via plots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plot_depletionSSB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lapply</a:t>
            </a:r>
            <a:r>
              <a:rPr>
                <a:solidFill>
                  <a:srgbClr val="003B4F"/>
                </a:solidFill>
                <a:latin typeface="Courier"/>
              </a:rPr>
              <a:t>(mse1,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(x) x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OM))</a:t>
            </a:r>
          </a:p>
        </p:txBody>
      </p:sp>
      <p:pic>
        <p:nvPicPr>
          <p:cNvPr descr="MSE-testing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plot_depletionSSB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(mse1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Sim_1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EM,           </a:t>
            </a:r>
            <a:r>
              <a:rPr>
                <a:solidFill>
                  <a:srgbClr val="5E5E5E"/>
                </a:solidFill>
                <a:latin typeface="Courier"/>
              </a:rPr>
              <a:t># EMs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(mse1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Sim_1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OM,      </a:t>
            </a:r>
            <a:r>
              <a:rPr>
                <a:solidFill>
                  <a:srgbClr val="5E5E5E"/>
                </a:solidFill>
                <a:latin typeface="Courier"/>
              </a:rPr>
              <a:t># OM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mse1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Sim_1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OM_no_F  </a:t>
            </a:r>
            <a:r>
              <a:rPr>
                <a:solidFill>
                  <a:srgbClr val="5E5E5E"/>
                </a:solidFill>
                <a:latin typeface="Courier"/>
              </a:rPr>
              <a:t># OM w/ no fishing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)),  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line_col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"grey"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length.out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SE-testing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statistics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(kableExtra)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(mse1)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(mse_summ,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/>
                <a:gridCol w="88900"/>
                <a:gridCol w="88900"/>
                <a:gridCol w="114300"/>
                <a:gridCol w="88900"/>
                <a:gridCol w="88900"/>
                <a:gridCol w="177800"/>
                <a:gridCol w="254000"/>
                <a:gridCol w="165100"/>
                <a:gridCol w="190500"/>
                <a:gridCol w="165100"/>
                <a:gridCol w="190500"/>
                <a:gridCol w="355600"/>
                <a:gridCol w="355600"/>
                <a:gridCol w="406400"/>
                <a:gridCol w="406400"/>
                <a:gridCol w="127000"/>
                <a:gridCol w="139700"/>
                <a:gridCol w="215900"/>
                <a:gridCol w="228600"/>
                <a:gridCol w="317500"/>
                <a:gridCol w="215900"/>
                <a:gridCol w="190500"/>
                <a:gridCol w="139700"/>
                <a:gridCol w="20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Average 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Catch IAV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P(Closed)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terminal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 but OM: P(Fy &lt;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&lt; Flimit) but 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 but OM: P(SSB &gt;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&gt; SSBlimit) but 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Dynamic SB0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 (Dynamic)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Average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 no F: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 from 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110019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35363.29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Alternative scenarios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Different BRPs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em2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verbose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build_hcr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      </a:t>
            </a:r>
            <a:r>
              <a:rPr>
                <a:solidFill>
                  <a:srgbClr val="5E5E5E"/>
                </a:solidFill>
                <a:latin typeface="Courier"/>
              </a:rPr>
              <a:t># Tier3 HCR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Ftarget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5E5E5E"/>
                </a:solidFill>
                <a:latin typeface="Courier"/>
              </a:rPr>
              <a:t># F40%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F35%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Plimit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   </a:t>
            </a:r>
            <a:r>
              <a:rPr>
                <a:solidFill>
                  <a:srgbClr val="5E5E5E"/>
                </a:solidFill>
                <a:latin typeface="Courier"/>
              </a:rPr>
              <a:t># No limit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MSE 2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mse2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em2,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Triannual BTS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mse3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4-year cycle and 50% sampling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mse4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fut_sample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Climate resilience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env_data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styr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projyr,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Index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om2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recFun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build_srr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srr_fun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</a:t>
            </a:r>
            <a:r>
              <a:rPr>
                <a:solidFill>
                  <a:srgbClr val="5E5E5E"/>
                </a:solidFill>
                <a:latin typeface="Courier"/>
              </a:rPr>
              <a:t># Mean R with covariates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srr_indices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plot_biomass</a:t>
            </a:r>
            <a:r>
              <a:rPr>
                <a:solidFill>
                  <a:srgbClr val="003B4F"/>
                </a:solidFill>
                <a:latin typeface="Courier"/>
              </a:rPr>
              <a:t>(om2, </a:t>
            </a:r>
            <a:r>
              <a:rPr>
                <a:solidFill>
                  <a:srgbClr val="657422"/>
                </a:solidFill>
                <a:latin typeface="Courier"/>
              </a:rPr>
              <a:t>incl_proj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SE-testing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mse5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om2,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fut_sample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Overall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mse_summ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mse_summ2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(mse2); mse_summ2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mse_summ3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(mse3); mse_summ3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mse_summ4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(mse4); mse_summ4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do.call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"rbind"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(mse_summ, mse_summ2, mse_summ3, mse_summ4))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relocate</a:t>
            </a:r>
            <a:r>
              <a:rPr>
                <a:solidFill>
                  <a:srgbClr val="003B4F"/>
                </a:solidFill>
                <a:latin typeface="Courier"/>
              </a:rPr>
              <a:t>(MSE),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"/>
                <a:gridCol w="190500"/>
                <a:gridCol w="88900"/>
                <a:gridCol w="88900"/>
                <a:gridCol w="114300"/>
                <a:gridCol w="88900"/>
                <a:gridCol w="88900"/>
                <a:gridCol w="177800"/>
                <a:gridCol w="254000"/>
                <a:gridCol w="165100"/>
                <a:gridCol w="190500"/>
                <a:gridCol w="165100"/>
                <a:gridCol w="190500"/>
                <a:gridCol w="355600"/>
                <a:gridCol w="355600"/>
                <a:gridCol w="406400"/>
                <a:gridCol w="406400"/>
                <a:gridCol w="127000"/>
                <a:gridCol w="139700"/>
                <a:gridCol w="215900"/>
                <a:gridCol w="228600"/>
                <a:gridCol w="317500"/>
                <a:gridCol w="215900"/>
                <a:gridCol w="190500"/>
                <a:gridCol w="139700"/>
                <a:gridCol w="203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Average 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Catch IAV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P(Closed)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terminal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 but OM: P(Fy &lt;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&lt; Flimit) but 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 but OM: P(SSB &gt;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&gt; SSBlimit) but 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Dynamic SB0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 (Dynamic)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Average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 no F: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 from 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110019.04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35363.29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5626.10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93355.87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27483.58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5626.10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5626.10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4538.44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109953.00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35353.45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4538.44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4538.44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4364.35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114102.34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37321.95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4364.35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4364.35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 testing</dc:title>
  <dc:creator>Grant Adams</dc:creator>
  <cp:keywords/>
  <dcterms:created xsi:type="dcterms:W3CDTF">2025-08-20T04:30:48Z</dcterms:created>
  <dcterms:modified xsi:type="dcterms:W3CDTF">2025-08-20T04:30:48Z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